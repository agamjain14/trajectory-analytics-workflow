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E2E8F0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38BDF8"/>
                </a:solidFill>
                <a:latin typeface="Calibri"/>
              </a:rPr>
              <a:t>Infrastructure-aware observability for non-deterministic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Trace how an agent's execution paths drift, score its answer quality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with an LLM-as-judge, and </a:t>
            </a:r>
            <a:r>
              <a:rPr sz="1600" b="1">
                <a:solidFill>
                  <a:srgbClr val="E2E8F0"/>
                </a:solidFill>
                <a:latin typeface="Calibri"/>
              </a:rPr>
              <a:t>prove whether a quality drop was caused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by GPU contention or by the application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Agam Jain</a:t>
            </a:r>
            <a:r>
              <a:rPr sz="1300" b="0">
                <a:solidFill>
                  <a:srgbClr val="94A3B8"/>
                </a:solidFill>
                <a:latin typeface="Calibri"/>
              </a:rPr>
              <a:t>    •    OpenTelemetry · Spark · Delta Lake · Ollama (real GPU)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AI agents are a black box when they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AI agents are </a:t>
            </a:r>
            <a:r>
              <a:rPr sz="1800" b="1">
                <a:solidFill>
                  <a:srgbClr val="F87171"/>
                </a:solidFill>
                <a:latin typeface="Calibri"/>
              </a:rPr>
              <a:t>non-deterministic</a:t>
            </a:r>
            <a:r>
              <a:rPr sz="1800" b="0">
                <a:solidFill>
                  <a:srgbClr val="E2E8F0"/>
                </a:solidFill>
                <a:latin typeface="Calibri"/>
              </a:rPr>
              <a:t> — the same request can take a different path each run, and answer quality can quietly collapse.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😕  The question teams ask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2E8F0"/>
                </a:solidFill>
                <a:latin typeface="Calibri"/>
              </a:rPr>
              <a:t>“Was the model just dumb today?”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Shallow. Gives no root cause. Can't tell if it's the model, the prompt, or the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743200"/>
            <a:ext cx="539496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71800"/>
            <a:ext cx="48463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DE80"/>
                </a:solidFill>
                <a:latin typeface="Calibri"/>
              </a:rPr>
              <a:t>🎯  The question we answer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E2E8F0"/>
                </a:solidFill>
                <a:latin typeface="Calibri"/>
              </a:rPr>
              <a:t>“Did the infrastructure underneath the agent change how it behaved?”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Separates infra-caused failures from app-caused ones — so you fix the right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Nobody looks at these three together: </a:t>
            </a:r>
            <a:r>
              <a:rPr sz="1500" b="1">
                <a:solidFill>
                  <a:srgbClr val="38BDF8"/>
                </a:solidFill>
                <a:latin typeface="Calibri"/>
              </a:rPr>
              <a:t>execution path  +  answer quality  +  GPU pressure</a:t>
            </a:r>
            <a:r>
              <a:rPr sz="1500" b="0">
                <a:solidFill>
                  <a:srgbClr val="94A3B8"/>
                </a:solidFill>
                <a:latin typeface="Calibri"/>
              </a:rPr>
              <a:t>  at the same moment.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What is an “agent trajectory”?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A trajectory is the </a:t>
            </a:r>
            <a:r>
              <a:rPr sz="1700" b="1">
                <a:solidFill>
                  <a:srgbClr val="38BDF8"/>
                </a:solidFill>
                <a:latin typeface="Calibri"/>
              </a:rPr>
              <a:t>ordered sequence of steps</a:t>
            </a:r>
            <a:r>
              <a:rPr sz="1700" b="0">
                <a:solidFill>
                  <a:srgbClr val="E2E8F0"/>
                </a:solidFill>
                <a:latin typeface="Calibri"/>
              </a:rPr>
              <a:t> an agent takes to answer one request — its execution path, captured as a signature.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11064240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Calibri"/>
              </a:rPr>
              <a:t>✅  Healthy path  </a:t>
            </a:r>
            <a:r>
              <a:rPr sz="1300" b="0">
                <a:solidFill>
                  <a:srgbClr val="94A3B8"/>
                </a:solidFill>
                <a:latin typeface="Calibri"/>
              </a:rPr>
              <a:t>(calm GPU)</a:t>
            </a:r>
            <a:r>
              <a:rPr sz="1400" b="1">
                <a:solidFill>
                  <a:srgbClr val="4ADE80"/>
                </a:solidFill>
                <a:latin typeface="Calibri"/>
              </a:rPr>
              <a:t>            quality 3.5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ENTRY → PLAN → RESEARCH → RETRIEVE → REASON → VERIFY → RESPOND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Full research and a verification step before answering.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11064240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87171"/>
                </a:solidFill>
                <a:latin typeface="Calibri"/>
              </a:rPr>
              <a:t>⚠️  Mutated path  </a:t>
            </a:r>
            <a:r>
              <a:rPr sz="1300" b="0">
                <a:solidFill>
                  <a:srgbClr val="94A3B8"/>
                </a:solidFill>
                <a:latin typeface="Calibri"/>
              </a:rPr>
              <a:t>(GPU under pressure)</a:t>
            </a:r>
            <a:r>
              <a:rPr sz="1400" b="1">
                <a:solidFill>
                  <a:srgbClr val="F87171"/>
                </a:solidFill>
                <a:latin typeface="Calibri"/>
              </a:rPr>
              <a:t>   quality 0.6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ENTRY → PLAN → REASON → RESPOND</a:t>
            </a:r>
            <a:r>
              <a:rPr sz="1300" b="0">
                <a:solidFill>
                  <a:srgbClr val="F87171"/>
                </a:solidFill>
                <a:latin typeface="Calibri"/>
              </a:rPr>
              <a:t>      −3 steps, skipped research + verify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Under load the agent truncated its own reasoning → wrong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We hash each path into a </a:t>
            </a:r>
            <a:r>
              <a:rPr sz="1400" b="1">
                <a:solidFill>
                  <a:srgbClr val="38BDF8"/>
                </a:solidFill>
                <a:latin typeface="Calibri"/>
              </a:rPr>
              <a:t>template signature</a:t>
            </a:r>
            <a:r>
              <a:rPr sz="1400" b="0">
                <a:solidFill>
                  <a:srgbClr val="94A3B8"/>
                </a:solidFill>
                <a:latin typeface="Calibri"/>
              </a:rPr>
              <a:t>, so we can count, compare, and detect when the agent starts drifting.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3 /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One pipeline that joins behavior to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A travel-planner agent is fully instrumented; the data streams through Spark + Delta Lake into a live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2084831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2084831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1.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00400"/>
            <a:ext cx="18653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Every agent / LLM /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RAG / tool step is an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OpenTelemetry span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2343" y="2423160"/>
            <a:ext cx="2084831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52343" y="2423160"/>
            <a:ext cx="2084831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3" y="269748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2.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3200400"/>
            <a:ext cx="18653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Spark Structured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Streaming + Delta Lake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(6 jobs, MERGE upserts)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6046" y="2423160"/>
            <a:ext cx="2084831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6046" y="2423160"/>
            <a:ext cx="2084831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6" y="269748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3.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4" y="3200400"/>
            <a:ext cx="18653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 2nd LLM scores each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answer on 5 quality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dimensions (1–5)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9749" y="2423160"/>
            <a:ext cx="2084831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59749" y="2423160"/>
            <a:ext cx="2084831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49" y="269748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Calibri"/>
              </a:rPr>
              <a:t>4. Correlate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7" y="3200400"/>
            <a:ext cx="18653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Join quality to the GPU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conditions present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while the trace ran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3452" y="2423160"/>
            <a:ext cx="2084831" cy="20116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63452" y="2423160"/>
            <a:ext cx="2084831" cy="50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2" y="269748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87171"/>
                </a:solidFill>
                <a:latin typeface="Calibri"/>
              </a:rPr>
              <a:t>5. 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0" y="3200400"/>
            <a:ext cx="18653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Dashboard: drift, alerts,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harmful mutations,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root cause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Correlation rule:  </a:t>
            </a:r>
            <a:r>
              <a:rPr sz="1400" b="0">
                <a:solidFill>
                  <a:srgbClr val="E2E8F0"/>
                </a:solidFill>
                <a:latin typeface="Calibri"/>
              </a:rPr>
              <a:t>a GPU/network sample attaches to a trace only if it's on the </a:t>
            </a:r>
            <a:r>
              <a:rPr sz="1400" b="1">
                <a:solidFill>
                  <a:srgbClr val="E2E8F0"/>
                </a:solidFill>
                <a:latin typeface="Calibri"/>
              </a:rPr>
              <a:t>same node</a:t>
            </a:r>
            <a:r>
              <a:rPr sz="1400" b="0">
                <a:solidFill>
                  <a:srgbClr val="E2E8F0"/>
                </a:solidFill>
                <a:latin typeface="Calibri"/>
              </a:rPr>
              <a:t> within </a:t>
            </a:r>
            <a:r>
              <a:rPr sz="1400" b="1">
                <a:solidFill>
                  <a:srgbClr val="E2E8F0"/>
                </a:solidFill>
                <a:latin typeface="Calibri"/>
              </a:rPr>
              <a:t>±10 s</a:t>
            </a:r>
            <a:r>
              <a:rPr sz="1400" b="0">
                <a:solidFill>
                  <a:srgbClr val="E2E8F0"/>
                </a:solidFill>
                <a:latin typeface="Calibri"/>
              </a:rPr>
              <a:t> of execution —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so a quality drop is tied to the </a:t>
            </a:r>
            <a:r>
              <a:rPr sz="1400" b="1">
                <a:solidFill>
                  <a:srgbClr val="38BDF8"/>
                </a:solidFill>
                <a:latin typeface="Calibri"/>
              </a:rPr>
              <a:t>specific GPU conditions that produced it</a:t>
            </a:r>
            <a:r>
              <a:rPr sz="1400" b="0">
                <a:solidFill>
                  <a:srgbClr val="94A3B8"/>
                </a:solidFill>
                <a:latin typeface="Calibri"/>
              </a:rPr>
              <a:t>, not a global average.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4 / 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WHAT WE SET OUT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Three questions, three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6616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66160" cy="63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38BDF8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How do agent paths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change over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Detect and quantify drift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56616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566160" cy="635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4ADE80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Does a quality drop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co-occur with path change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AND GPU contention?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Separate infra-caused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from app-caused failures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56616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566160" cy="635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87171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632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Which trajectory mutations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lead to wrong answers?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434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Pinpoint the failing paths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+ their root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5 /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PROVED ·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Paths drift — and we measure exactly how much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Method: </a:t>
            </a:r>
            <a:r>
              <a:rPr sz="1500" b="0">
                <a:solidFill>
                  <a:srgbClr val="E2E8F0"/>
                </a:solidFill>
                <a:latin typeface="Calibri"/>
              </a:rPr>
              <a:t>bucket traces into time windows and compute </a:t>
            </a:r>
            <a:r>
              <a:rPr sz="1500" b="1">
                <a:solidFill>
                  <a:srgbClr val="E2E8F0"/>
                </a:solidFill>
                <a:latin typeface="Calibri"/>
              </a:rPr>
              <a:t>Jensen-Shannon divergence</a:t>
            </a:r>
            <a:r>
              <a:rPr sz="1500" b="0">
                <a:solidFill>
                  <a:srgbClr val="E2E8F0"/>
                </a:solidFill>
                <a:latin typeface="Calibri"/>
              </a:rPr>
              <a:t> of each window's path mix vs. a calm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155448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0799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4606748"/>
            <a:ext cx="1554480" cy="33101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2227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0.13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983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860597"/>
            <a:ext cx="1554480" cy="1077163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476549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0.47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983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3597250"/>
            <a:ext cx="1554480" cy="134051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21320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0.59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983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697480"/>
            <a:ext cx="1554480" cy="2240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31343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9834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W5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E2E8F0"/>
                </a:solidFill>
                <a:latin typeface="Calibri"/>
              </a:rPr>
              <a:t>Result:  drift climbs </a:t>
            </a:r>
            <a:r>
              <a:rPr sz="1500" b="1">
                <a:solidFill>
                  <a:srgbClr val="38BDF8"/>
                </a:solidFill>
                <a:latin typeface="Calibri"/>
              </a:rPr>
              <a:t>0.00 → 1.00</a:t>
            </a:r>
            <a:r>
              <a:rPr sz="1500" b="0">
                <a:solidFill>
                  <a:srgbClr val="E2E8F0"/>
                </a:solidFill>
                <a:latin typeface="Calibri"/>
              </a:rPr>
              <a:t> across windows — one dominant path in the calm phase fragments into many under GPU stress.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6 / 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PROVED · Q2  ★ CENTERPIECE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We tell infra-caused from app-caused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DE80"/>
                </a:solidFill>
                <a:latin typeface="Calibri"/>
              </a:rPr>
              <a:t>Method: </a:t>
            </a:r>
            <a:r>
              <a:rPr sz="1500" b="0">
                <a:solidFill>
                  <a:srgbClr val="E2E8F0"/>
                </a:solidFill>
                <a:latin typeface="Calibri"/>
              </a:rPr>
              <a:t>per window, check three independent signals — </a:t>
            </a:r>
            <a:r>
              <a:rPr sz="1500" b="1">
                <a:solidFill>
                  <a:srgbClr val="E2E8F0"/>
                </a:solidFill>
                <a:latin typeface="Calibri"/>
              </a:rPr>
              <a:t>quality drop · path drift · GPU pressure</a:t>
            </a:r>
            <a:r>
              <a:rPr sz="1500" b="0">
                <a:solidFill>
                  <a:srgbClr val="E2E8F0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40680" cy="2468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76200" cy="24688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87171"/>
                </a:solidFill>
                <a:latin typeface="Calibri"/>
              </a:rPr>
              <a:t>gpu_induced_degradation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All three signals fired together.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quality −1.9   ·   drift high   ·   GPU 0.71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→ The infrastructure caused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5440680" cy="2468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68880"/>
            <a:ext cx="76200" cy="2468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Calibri"/>
              </a:rPr>
              <a:t>app_layer_degradation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Quality crashed but GPU was idle.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quality −1.96   ·   drift yes   ·   GPU 0.21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2E8F0"/>
                </a:solidFill>
                <a:latin typeface="Calibri"/>
              </a:rPr>
              <a:t>→ A prompt / model issue, NOT infra.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ADE80"/>
                </a:solidFill>
                <a:latin typeface="Calibri"/>
              </a:rPr>
              <a:t>Why it matters:  </a:t>
            </a:r>
            <a:r>
              <a:rPr sz="1400" b="0">
                <a:solidFill>
                  <a:srgbClr val="E2E8F0"/>
                </a:solidFill>
                <a:latin typeface="Calibri"/>
              </a:rPr>
              <a:t>a dumb monitor pages the infra team for both. Ours says </a:t>
            </a:r>
            <a:r>
              <a:rPr sz="1400" b="1">
                <a:solidFill>
                  <a:srgbClr val="E2E8F0"/>
                </a:solidFill>
                <a:latin typeface="Calibri"/>
              </a:rPr>
              <a:t>which</a:t>
            </a:r>
            <a:r>
              <a:rPr sz="1400" b="0">
                <a:solidFill>
                  <a:srgbClr val="E2E8F0"/>
                </a:solidFill>
                <a:latin typeface="Calibri"/>
              </a:rPr>
              <a:t> failures are actually hardware — so the right team fixes the right thing.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/ 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PROVED ·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2E8F0"/>
                </a:solidFill>
                <a:latin typeface="Calibri"/>
              </a:rPr>
              <a:t>We pinpoint the harmful mutations —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Calibri"/>
              </a:rPr>
              <a:t>Method: </a:t>
            </a:r>
            <a:r>
              <a:rPr sz="1500" b="0">
                <a:solidFill>
                  <a:srgbClr val="E2E8F0"/>
                </a:solidFill>
                <a:latin typeface="Calibri"/>
              </a:rPr>
              <a:t>group traces by path signature; compute bad-rate, lift vs. baseline, and step/LLM deltas vs. the healthy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24328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514600"/>
            <a:ext cx="1554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2624328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Bad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514600"/>
            <a:ext cx="13716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62432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514600"/>
            <a:ext cx="1554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624328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Δ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514600"/>
            <a:ext cx="15544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624328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Δ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514600"/>
            <a:ext cx="16459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624328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Calibri"/>
              </a:rPr>
              <a:t>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81528"/>
            <a:ext cx="33832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91256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Healthy dominant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081528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191256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DE80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081528"/>
            <a:ext cx="1371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3191256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081528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191256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081528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191256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3081528"/>
            <a:ext cx="16459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3191256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DE80"/>
                </a:solidFill>
                <a:latin typeface="Calibri"/>
              </a:rPr>
              <a:t>3.56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48456"/>
            <a:ext cx="338328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758184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Mutation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3648456"/>
            <a:ext cx="155448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3758184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87171"/>
                </a:solidFill>
                <a:latin typeface="Calibri"/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648456"/>
            <a:ext cx="137160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3758184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87171"/>
                </a:solidFill>
                <a:latin typeface="Calibri"/>
              </a:rPr>
              <a:t>3.4×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648456"/>
            <a:ext cx="155448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3758184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−6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648456"/>
            <a:ext cx="155448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758184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−1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3648456"/>
            <a:ext cx="1645920" cy="566928"/>
          </a:xfrm>
          <a:prstGeom prst="rect">
            <a:avLst/>
          </a:prstGeom>
          <a:solidFill>
            <a:srgbClr val="162030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3758184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~0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215384"/>
            <a:ext cx="33832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325112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  <a:latin typeface="Calibri"/>
              </a:rPr>
              <a:t>Mutation 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4215384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4325112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87171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215384"/>
            <a:ext cx="1371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4325112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87171"/>
                </a:solidFill>
                <a:latin typeface="Calibri"/>
              </a:rPr>
              <a:t>3.4×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4215384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4325112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−6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4215384"/>
            <a:ext cx="155448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4325112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−1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4215384"/>
            <a:ext cx="16459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4120" y="4325112"/>
            <a:ext cx="1645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2E8F0"/>
                </a:solidFill>
                <a:latin typeface="Calibri"/>
              </a:rPr>
              <a:t>~0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87171"/>
                </a:solidFill>
                <a:latin typeface="Calibri"/>
              </a:rPr>
              <a:t>Result:  </a:t>
            </a:r>
            <a:r>
              <a:rPr sz="1400" b="0">
                <a:solidFill>
                  <a:srgbClr val="E2E8F0"/>
                </a:solidFill>
                <a:latin typeface="Calibri"/>
              </a:rPr>
              <a:t>the failing paths run at </a:t>
            </a:r>
            <a:r>
              <a:rPr sz="1400" b="1">
                <a:solidFill>
                  <a:srgbClr val="F87171"/>
                </a:solidFill>
                <a:latin typeface="Calibri"/>
              </a:rPr>
              <a:t>100% bad rate (3.4× baseline)</a:t>
            </a:r>
            <a:r>
              <a:rPr sz="1400" b="0">
                <a:solidFill>
                  <a:srgbClr val="E2E8F0"/>
                </a:solidFill>
                <a:latin typeface="Calibri"/>
              </a:rPr>
              <a:t>, taking </a:t>
            </a:r>
            <a:r>
              <a:rPr sz="1400" b="1">
                <a:solidFill>
                  <a:srgbClr val="E2E8F0"/>
                </a:solidFill>
                <a:latin typeface="Calibri"/>
              </a:rPr>
              <a:t>6 fewer steps and 1 fewer LLM call</a:t>
            </a:r>
            <a:r>
              <a:rPr sz="1400" b="0">
                <a:solidFill>
                  <a:srgbClr val="E2E8F0"/>
                </a:solidFill>
                <a:latin typeface="Calibri"/>
              </a:rPr>
              <a:t> than the healthy path.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Under GPU pressure the agent truncated its reasoning — a </a:t>
            </a:r>
            <a:r>
              <a:rPr sz="1400" b="1">
                <a:solidFill>
                  <a:srgbClr val="38BDF8"/>
                </a:solidFill>
                <a:latin typeface="Calibri"/>
              </a:rPr>
              <a:t>root cause engineering can fix</a:t>
            </a:r>
            <a:r>
              <a:rPr sz="1400" b="0">
                <a:solidFill>
                  <a:srgbClr val="94A3B8"/>
                </a:solidFill>
                <a:latin typeface="Calibri"/>
              </a:rPr>
              <a:t>, not just an alarm.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Agent Trajectory 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4008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8 / 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355080"/>
            <a:ext cx="11064240" cy="15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E2E8F0"/>
                </a:solidFill>
                <a:latin typeface="Calibri"/>
              </a:rPr>
              <a:t>One pipeline, three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292608" cy="2926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45059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8BDF8"/>
                </a:solidFill>
                <a:latin typeface="Calibri"/>
              </a:rPr>
              <a:t>Q1 — how  </a:t>
            </a:r>
            <a:r>
              <a:rPr sz="1600" b="0">
                <a:solidFill>
                  <a:srgbClr val="E2E8F0"/>
                </a:solidFill>
                <a:latin typeface="Calibri"/>
              </a:rPr>
              <a:t>agent paths drift over time</a:t>
            </a:r>
            <a:r>
              <a:rPr sz="1400" b="0">
                <a:solidFill>
                  <a:srgbClr val="94A3B8"/>
                </a:solidFill>
                <a:latin typeface="Calibri"/>
              </a:rPr>
              <a:t>   —  drift score 0.00 → 1.00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35808"/>
            <a:ext cx="292608" cy="29260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DE80"/>
                </a:solidFill>
                <a:latin typeface="Calibri"/>
              </a:rPr>
              <a:t>Q2 — prove  </a:t>
            </a:r>
            <a:r>
              <a:rPr sz="1600" b="0">
                <a:solidFill>
                  <a:srgbClr val="E2E8F0"/>
                </a:solidFill>
                <a:latin typeface="Calibri"/>
              </a:rPr>
              <a:t>a quality drop is infra-caused vs. app-caused</a:t>
            </a:r>
            <a:r>
              <a:rPr sz="1400" b="0">
                <a:solidFill>
                  <a:srgbClr val="94A3B8"/>
                </a:solidFill>
                <a:latin typeface="Calibri"/>
              </a:rPr>
              <a:t>   —  two distinct verdicts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02736"/>
            <a:ext cx="292608" cy="29260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5844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87171"/>
                </a:solidFill>
                <a:latin typeface="Calibri"/>
              </a:rPr>
              <a:t>Q3 — pinpoint  </a:t>
            </a:r>
            <a:r>
              <a:rPr sz="1600" b="0">
                <a:solidFill>
                  <a:srgbClr val="E2E8F0"/>
                </a:solidFill>
                <a:latin typeface="Calibri"/>
              </a:rPr>
              <a:t>the exact mutations that cause wrong answers</a:t>
            </a:r>
            <a:r>
              <a:rPr sz="1400" b="0">
                <a:solidFill>
                  <a:srgbClr val="94A3B8"/>
                </a:solidFill>
                <a:latin typeface="Calibri"/>
              </a:rPr>
              <a:t>   —  100% bad, 3.4× lift, −6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94A3B8"/>
                </a:solidFill>
                <a:latin typeface="Calibri"/>
              </a:rPr>
              <a:t>From </a:t>
            </a:r>
            <a:r>
              <a:rPr sz="1700" b="1">
                <a:solidFill>
                  <a:srgbClr val="FBBF24"/>
                </a:solidFill>
                <a:latin typeface="Calibri"/>
              </a:rPr>
              <a:t>“the agent feels unreliable”</a:t>
            </a:r>
            <a:r>
              <a:rPr sz="1700" b="0">
                <a:solidFill>
                  <a:srgbClr val="94A3B8"/>
                </a:solidFill>
                <a:latin typeface="Calibri"/>
              </a:rPr>
              <a:t> to </a:t>
            </a:r>
            <a:r>
              <a:rPr sz="1700" b="1">
                <a:solidFill>
                  <a:srgbClr val="E2E8F0"/>
                </a:solidFill>
                <a:latin typeface="Calibri"/>
              </a:rPr>
              <a:t>“this truncated path, under this measured GPU contention, is exactly why — and here's the fix.”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Real, not simulated:  </a:t>
            </a:r>
            <a:r>
              <a:rPr sz="1300" b="0">
                <a:solidFill>
                  <a:srgbClr val="94A3B8"/>
                </a:solidFill>
                <a:latin typeface="Calibri"/>
              </a:rPr>
              <a:t>for the demo the full analytics pipeline ran locally; only inference + the judge ran on a real RTX 3060 (NVML metrics).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